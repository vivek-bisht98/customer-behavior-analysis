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Tomorrow Bold"/>
      <p:regular r:id="rId201314"/>
    </p:embeddedFont>
    <p:embeddedFont>
      <p:font typeface="Tomorrow"/>
      <p:regular r:id="rId201315"/>
    </p:embeddedFont>
    <p:embeddedFont>
      <p:font typeface="Tomorrow SemiBold"/>
      <p:regular r:id="rId201316"/>
    </p:embeddedFont>
    <p:embeddedFont>
      <p:font typeface="Tomorrow Black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C3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3,900 transactions · 18 features · 4 product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35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090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4158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77090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4158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99166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636615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943127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99166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636615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Avg. Purchase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C3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610" y="102915"/>
            <a:ext cx="3291780" cy="4937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7487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Preparation in Python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96119" y="1116137"/>
            <a:ext cx="4722763" cy="785217"/>
          </a:xfrm>
          <a:prstGeom prst="roundRect">
            <a:avLst>
              <a:gd name="adj" fmla="val 2624"/>
            </a:avLst>
          </a:prstGeom>
          <a:solidFill>
            <a:srgbClr val="3C3C3A"/>
          </a:solidFill>
          <a:ln/>
        </p:spPr>
      </p:sp>
      <p:sp>
        <p:nvSpPr>
          <p:cNvPr id="6" name="Text 3"/>
          <p:cNvSpPr/>
          <p:nvPr/>
        </p:nvSpPr>
        <p:spPr>
          <a:xfrm>
            <a:off x="633413" y="1253430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Clean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3413" y="1547738"/>
            <a:ext cx="44481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Imputed missing Review Ratings using category medians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96119" y="2034332"/>
            <a:ext cx="4722763" cy="785217"/>
          </a:xfrm>
          <a:prstGeom prst="roundRect">
            <a:avLst>
              <a:gd name="adj" fmla="val 2624"/>
            </a:avLst>
          </a:prstGeom>
          <a:solidFill>
            <a:srgbClr val="3C3C3A"/>
          </a:solidFill>
          <a:ln/>
        </p:spPr>
      </p:sp>
      <p:sp>
        <p:nvSpPr>
          <p:cNvPr id="9" name="Text 6"/>
          <p:cNvSpPr/>
          <p:nvPr/>
        </p:nvSpPr>
        <p:spPr>
          <a:xfrm>
            <a:off x="633413" y="2171626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Standardize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3413" y="2465933"/>
            <a:ext cx="44481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Renamed columns to snake_case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2952527"/>
            <a:ext cx="4722763" cy="785217"/>
          </a:xfrm>
          <a:prstGeom prst="roundRect">
            <a:avLst>
              <a:gd name="adj" fmla="val 2624"/>
            </a:avLst>
          </a:prstGeom>
          <a:solidFill>
            <a:srgbClr val="3C3C3A"/>
          </a:solidFill>
          <a:ln/>
        </p:spPr>
      </p:sp>
      <p:sp>
        <p:nvSpPr>
          <p:cNvPr id="12" name="Text 9"/>
          <p:cNvSpPr/>
          <p:nvPr/>
        </p:nvSpPr>
        <p:spPr>
          <a:xfrm>
            <a:off x="633413" y="3089821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Engineer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3413" y="3384128"/>
            <a:ext cx="44481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age_group &amp; purchase_frequency_days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6119" y="3870722"/>
            <a:ext cx="4722763" cy="785217"/>
          </a:xfrm>
          <a:prstGeom prst="roundRect">
            <a:avLst>
              <a:gd name="adj" fmla="val 2624"/>
            </a:avLst>
          </a:prstGeom>
          <a:solidFill>
            <a:srgbClr val="3C3C3A"/>
          </a:solidFill>
          <a:ln/>
        </p:spPr>
      </p:sp>
      <p:sp>
        <p:nvSpPr>
          <p:cNvPr id="15" name="Text 12"/>
          <p:cNvSpPr/>
          <p:nvPr/>
        </p:nvSpPr>
        <p:spPr>
          <a:xfrm>
            <a:off x="633413" y="4008016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Integrate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3413" y="4302323"/>
            <a:ext cx="44481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Loaded cleaned data into PostgreSQL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Male customers generate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than female customers.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$157,890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Spending Behavior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Average spend is nearly identical —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$59.49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vs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$59.87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Yet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73% of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are non-subscribers, driving 73% of total revenue.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807791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4242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02761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97075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Huge untapped subscription opportunity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Loyal: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3,116 customers — core revenue base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Returning: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701 customers — growth opportunity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New: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83 customers — acquisition focus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 Contributor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Young Adults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lead with $62,143 in total revenue.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Revenue is relatively evenly distributed across all age groups.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942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 Products by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20751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15928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22439"/>
            <a:ext cx="19050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Blouse · Pants · Shirt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320751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301592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322439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Jewelry · Sunglasses · Belt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320751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301592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322439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Sandals · Shoes · Sneakers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320751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301592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322439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Jacket · Coat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C3C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9759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053182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1194941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150145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Total customer count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2011784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9" name="Text 6"/>
          <p:cNvSpPr/>
          <p:nvPr/>
        </p:nvSpPr>
        <p:spPr>
          <a:xfrm>
            <a:off x="4066877" y="2153543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$59.76 Avg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66877" y="246005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Average purchase amount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297038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11214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3.75 Rating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4186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Average review rating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3928988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15" name="Text 12"/>
          <p:cNvSpPr/>
          <p:nvPr/>
        </p:nvSpPr>
        <p:spPr>
          <a:xfrm>
            <a:off x="4066877" y="407074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Filters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66877" y="437725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Subscription · Gender · Category · Shipping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528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Business Recommendations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13" y="1114946"/>
            <a:ext cx="205978" cy="2059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2380" y="1110704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42380" y="1405012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Promote exclusive subscriber benefits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13" y="1891605"/>
            <a:ext cx="205978" cy="2059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2380" y="1887364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2380" y="218167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Reward repeat buyers → Loyal segment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13" y="2668265"/>
            <a:ext cx="205978" cy="2059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380" y="266402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2380" y="295833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Balance sales lift with margin control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13" y="3444925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2380" y="344068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42380" y="3734991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Highlight top-rated, best-selling items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613" y="4221584"/>
            <a:ext cx="205978" cy="2059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2380" y="4217343"/>
            <a:ext cx="77055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42380" y="4511650"/>
            <a:ext cx="770550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Focus on high-revenue age groups &amp; express shippers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2026-08-16T05:33:02Z</dcterms:created>
  <dcterms:modified xsi:type="dcterms:W3CDTF">2026-08-16T05:33:02Z</dcterms:modified>
</cp:coreProperties>
</file>